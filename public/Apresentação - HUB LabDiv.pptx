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4952" cy="73152"/>
          </a:xfrm>
          <a:prstGeom prst="rect">
            <a:avLst/>
          </a:prstGeom>
          <a:solidFill>
            <a:srgbClr val="FFCC00"/>
          </a:solidFill>
          <a:ln/>
        </p:spPr>
      </p:sp>
      <p:sp>
        <p:nvSpPr>
          <p:cNvPr id="3" name="Shape 1"/>
          <p:cNvSpPr/>
          <p:nvPr/>
        </p:nvSpPr>
        <p:spPr>
          <a:xfrm>
            <a:off x="3044952" y="0"/>
            <a:ext cx="3044952" cy="73152"/>
          </a:xfrm>
          <a:prstGeom prst="rect">
            <a:avLst/>
          </a:prstGeom>
          <a:solidFill>
            <a:srgbClr val="0F4780"/>
          </a:solidFill>
          <a:ln/>
        </p:spPr>
      </p:sp>
      <p:sp>
        <p:nvSpPr>
          <p:cNvPr id="4" name="Shape 2"/>
          <p:cNvSpPr/>
          <p:nvPr/>
        </p:nvSpPr>
        <p:spPr>
          <a:xfrm>
            <a:off x="6089904" y="0"/>
            <a:ext cx="3054096" cy="73152"/>
          </a:xfrm>
          <a:prstGeom prst="rect">
            <a:avLst/>
          </a:prstGeom>
          <a:solidFill>
            <a:srgbClr val="F14343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286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CC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HUB LABDIV • IFUSP | ABERTURA &amp; CONCEITO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50292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29LT Bukra" pitchFamily="34" charset="0"/>
                <a:ea typeface="29LT Bukra" pitchFamily="34" charset="-122"/>
                <a:cs typeface="29LT Bukra" pitchFamily="34" charset="-120"/>
              </a:rPr>
              <a:t>Visão Geral &amp; Conceito do HUB LabDiv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CC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Super App de Comunicação Científica para romper os muros da Universidade</a:t>
            </a:r>
            <a:endParaRPr lang="en-US" sz="1100" dirty="0"/>
          </a:p>
        </p:txBody>
      </p:sp>
      <p:pic>
        <p:nvPicPr>
          <p:cNvPr id="8" name="Image 0" descr="/home/stangorlini/HUB LabDiv/HUB-LabDiv/public/icone-HUBLabDiv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20040"/>
            <a:ext cx="1371600" cy="11430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508760"/>
            <a:ext cx="4023360" cy="1325880"/>
          </a:xfrm>
          <a:prstGeom prst="roundRect">
            <a:avLst/>
          </a:prstGeom>
          <a:solidFill>
            <a:srgbClr val="1E1E1E"/>
          </a:solidFill>
          <a:ln w="19050">
            <a:solidFill>
              <a:srgbClr val="FFCC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600200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Super App: Reúne diversas funções em um único lugar (como 99, WeChat, Mercado Livre, etc.), acessível pela PlayStore (beta fechado) ou direto pelo navegador.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663440" y="1508760"/>
            <a:ext cx="4023360" cy="1325880"/>
          </a:xfrm>
          <a:prstGeom prst="roundRect">
            <a:avLst/>
          </a:prstGeom>
          <a:solidFill>
            <a:srgbClr val="1E1E1E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846320" y="1600200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Comunicação Dialógica: Rompe a mera "divulgação passiva", promovendo a co-construção de significado com base teórica em "Extensão ou Comunicação?" de Paulo Freire.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2926080"/>
            <a:ext cx="4023360" cy="1325880"/>
          </a:xfrm>
          <a:prstGeom prst="roundRect">
            <a:avLst/>
          </a:prstGeom>
          <a:solidFill>
            <a:srgbClr val="1E1E1E"/>
          </a:solidFill>
          <a:ln w="19050">
            <a:solidFill>
              <a:srgbClr val="F1434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3017520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Integração Acadêmica: Une o controle do semestre e evolução no curso, uma Wiki com todas as informações do IFUSP e a aba Comunidade para interagir com colegas.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663440" y="2926080"/>
            <a:ext cx="4023360" cy="1325880"/>
          </a:xfrm>
          <a:prstGeom prst="roundRect">
            <a:avLst/>
          </a:prstGeom>
          <a:solidFill>
            <a:srgbClr val="1E1E1E"/>
          </a:solidFill>
          <a:ln w="19050">
            <a:solidFill>
              <a:srgbClr val="FFCC0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846320" y="3017520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Código Aberto (AGPLv3): Projeto transparente hospedado no GitHub (JoaoStangorlini/HUB-LabDiv) pronto para ser replicado.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CC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WebApp: https://hub-lab-div.vercel.app  |  PlayStore: https://play.google.com/store/apps/details?id=br.usp.ifusp.hublabdiv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4952" cy="73152"/>
          </a:xfrm>
          <a:prstGeom prst="rect">
            <a:avLst/>
          </a:prstGeom>
          <a:solidFill>
            <a:srgbClr val="FFCC00"/>
          </a:solidFill>
          <a:ln/>
        </p:spPr>
      </p:sp>
      <p:sp>
        <p:nvSpPr>
          <p:cNvPr id="3" name="Shape 1"/>
          <p:cNvSpPr/>
          <p:nvPr/>
        </p:nvSpPr>
        <p:spPr>
          <a:xfrm>
            <a:off x="3044952" y="0"/>
            <a:ext cx="3044952" cy="73152"/>
          </a:xfrm>
          <a:prstGeom prst="rect">
            <a:avLst/>
          </a:prstGeom>
          <a:solidFill>
            <a:srgbClr val="0F4780"/>
          </a:solidFill>
          <a:ln/>
        </p:spPr>
      </p:sp>
      <p:sp>
        <p:nvSpPr>
          <p:cNvPr id="4" name="Shape 2"/>
          <p:cNvSpPr/>
          <p:nvPr/>
        </p:nvSpPr>
        <p:spPr>
          <a:xfrm>
            <a:off x="6089904" y="0"/>
            <a:ext cx="3054096" cy="73152"/>
          </a:xfrm>
          <a:prstGeom prst="rect">
            <a:avLst/>
          </a:prstGeom>
          <a:solidFill>
            <a:srgbClr val="F14343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CC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ESTRUTURA DOS 3 EIXOS | HUB LABDIV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29LT Bukra" pitchFamily="34" charset="0"/>
                <a:ea typeface="29LT Bukra" pitchFamily="34" charset="-122"/>
                <a:cs typeface="29LT Bukra" pitchFamily="34" charset="-120"/>
              </a:rPr>
              <a:t>Divisão do HUB em 3 Eixos Principais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CC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As 3 Frentes Fundamentais da Plataforma HUB LabDiv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2560320" cy="3154680"/>
          </a:xfrm>
          <a:prstGeom prst="roundRect">
            <a:avLst/>
          </a:prstGeom>
          <a:solidFill>
            <a:srgbClr val="1E1E1E"/>
          </a:solidFill>
          <a:ln w="19050">
            <a:solidFill>
              <a:srgbClr val="FFCC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6459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29LT Bukra" pitchFamily="34" charset="0"/>
                <a:ea typeface="29LT Bukra" pitchFamily="34" charset="-122"/>
                <a:cs typeface="29LT Bukra" pitchFamily="34" charset="-120"/>
              </a:rPr>
              <a:t>1. Eixo Comunidade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20574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CC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REDE SOCIAL &amp; LOGS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21945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Feed de comunicação científica dialógica, quizzes, narração, galeria de Arte e Logs de vivência discente.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91840" y="1508760"/>
            <a:ext cx="2560320" cy="3154680"/>
          </a:xfrm>
          <a:prstGeom prst="roundRect">
            <a:avLst/>
          </a:prstGeom>
          <a:solidFill>
            <a:srgbClr val="1E1E1E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0" y="16459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29LT Bukra" pitchFamily="34" charset="0"/>
                <a:ea typeface="29LT Bukra" pitchFamily="34" charset="-122"/>
                <a:cs typeface="29LT Bukra" pitchFamily="34" charset="-120"/>
              </a:rPr>
              <a:t>2. Eixo CGIF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474720" y="20574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INFORMAÇÃO &amp; WIKI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474720" y="2423160"/>
            <a:ext cx="21945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Wiki institucional centralizada do IFUSP, manuais do curso, oportunidades (PUB/IC), iniciativas e mapa interativo com QR Code.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26480" y="1508760"/>
            <a:ext cx="2560320" cy="3154680"/>
          </a:xfrm>
          <a:prstGeom prst="roundRect">
            <a:avLst/>
          </a:prstGeom>
          <a:solidFill>
            <a:srgbClr val="1E1E1E"/>
          </a:solidFill>
          <a:ln w="19050">
            <a:solidFill>
              <a:srgbClr val="F1434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09360" y="16459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29LT Bukra" pitchFamily="34" charset="0"/>
                <a:ea typeface="29LT Bukra" pitchFamily="34" charset="-122"/>
                <a:cs typeface="29LT Bukra" pitchFamily="34" charset="-120"/>
              </a:rPr>
              <a:t>3. Eixo Ferramentas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09360" y="20574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1434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ESTUDO &amp; PESQUISA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309360" y="2423160"/>
            <a:ext cx="21945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Planejador de grade horária 1h:1h, acompanhamento de trilhas do curso e Match Acadêmico ("Quero uma IC").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4952" cy="73152"/>
          </a:xfrm>
          <a:prstGeom prst="rect">
            <a:avLst/>
          </a:prstGeom>
          <a:solidFill>
            <a:srgbClr val="FFCC00"/>
          </a:solidFill>
          <a:ln/>
        </p:spPr>
      </p:sp>
      <p:sp>
        <p:nvSpPr>
          <p:cNvPr id="3" name="Shape 1"/>
          <p:cNvSpPr/>
          <p:nvPr/>
        </p:nvSpPr>
        <p:spPr>
          <a:xfrm>
            <a:off x="3044952" y="0"/>
            <a:ext cx="3044952" cy="73152"/>
          </a:xfrm>
          <a:prstGeom prst="rect">
            <a:avLst/>
          </a:prstGeom>
          <a:solidFill>
            <a:srgbClr val="0F4780"/>
          </a:solidFill>
          <a:ln/>
        </p:spPr>
      </p:sp>
      <p:sp>
        <p:nvSpPr>
          <p:cNvPr id="4" name="Shape 2"/>
          <p:cNvSpPr/>
          <p:nvPr/>
        </p:nvSpPr>
        <p:spPr>
          <a:xfrm>
            <a:off x="6089904" y="0"/>
            <a:ext cx="3054096" cy="73152"/>
          </a:xfrm>
          <a:prstGeom prst="rect">
            <a:avLst/>
          </a:prstGeom>
          <a:solidFill>
            <a:srgbClr val="F14343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CC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EIXO 1 — COMUNIDADE | HUB LABDIV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29LT Bukra" pitchFamily="34" charset="0"/>
                <a:ea typeface="29LT Bukra" pitchFamily="34" charset="-122"/>
                <a:cs typeface="29LT Bukra" pitchFamily="34" charset="-120"/>
              </a:rPr>
              <a:t>Aba Comunidade: Fluxo, Logs &amp; Arte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CC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Descrição detalhada das 3 seções integradas do Eixo Comunidade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2560320" cy="3154680"/>
          </a:xfrm>
          <a:prstGeom prst="roundRect">
            <a:avLst/>
          </a:prstGeom>
          <a:solidFill>
            <a:srgbClr val="1E1E1E"/>
          </a:solidFill>
          <a:ln w="19050">
            <a:solidFill>
              <a:srgbClr val="FFCC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6459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29LT Bukra" pitchFamily="34" charset="0"/>
                <a:ea typeface="29LT Bukra" pitchFamily="34" charset="-122"/>
                <a:cs typeface="29LT Bukra" pitchFamily="34" charset="-120"/>
              </a:rPr>
              <a:t>1. Fluxo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20574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CC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COMUNICAÇÃO DIALÓGICA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21945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Feed principal onde o conteúdo científico é compartilhado com base teórica em "Extensão ou Comunicação?" de Paulo Freire, quizzes interativos, modo foco e narração em áudio.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91840" y="1508760"/>
            <a:ext cx="2560320" cy="3154680"/>
          </a:xfrm>
          <a:prstGeom prst="roundRect">
            <a:avLst/>
          </a:prstGeom>
          <a:solidFill>
            <a:srgbClr val="1E1E1E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0" y="16459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29LT Bukra" pitchFamily="34" charset="0"/>
                <a:ea typeface="29LT Bukra" pitchFamily="34" charset="-122"/>
                <a:cs typeface="29LT Bukra" pitchFamily="34" charset="-120"/>
              </a:rPr>
              <a:t>2. Logs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474720" y="20574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VIVÊNCIA DISCENTE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474720" y="2423160"/>
            <a:ext cx="21945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Espaço humanizado para diários de vivência acadêmica, trocas cotidianas e desabafos entre alunos com sistema de fios energizados que conectam a comunidade.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26480" y="1508760"/>
            <a:ext cx="2560320" cy="3154680"/>
          </a:xfrm>
          <a:prstGeom prst="roundRect">
            <a:avLst/>
          </a:prstGeom>
          <a:solidFill>
            <a:srgbClr val="1E1E1E"/>
          </a:solidFill>
          <a:ln w="19050">
            <a:solidFill>
              <a:srgbClr val="F1434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09360" y="16459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29LT Bukra" pitchFamily="34" charset="0"/>
                <a:ea typeface="29LT Bukra" pitchFamily="34" charset="-122"/>
                <a:cs typeface="29LT Bukra" pitchFamily="34" charset="-120"/>
              </a:rPr>
              <a:t>3. Arte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09360" y="20574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1434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EXPRESSÃO ARTÍSTICA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309360" y="2423160"/>
            <a:ext cx="21945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Galeria autoral de expressão visual, fotográfica e poética integrada à ciência, transformando registros e percepções em manifestações artísticas.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4952" cy="73152"/>
          </a:xfrm>
          <a:prstGeom prst="rect">
            <a:avLst/>
          </a:prstGeom>
          <a:solidFill>
            <a:srgbClr val="FFCC00"/>
          </a:solidFill>
          <a:ln/>
        </p:spPr>
      </p:sp>
      <p:sp>
        <p:nvSpPr>
          <p:cNvPr id="3" name="Shape 1"/>
          <p:cNvSpPr/>
          <p:nvPr/>
        </p:nvSpPr>
        <p:spPr>
          <a:xfrm>
            <a:off x="3044952" y="0"/>
            <a:ext cx="3044952" cy="73152"/>
          </a:xfrm>
          <a:prstGeom prst="rect">
            <a:avLst/>
          </a:prstGeom>
          <a:solidFill>
            <a:srgbClr val="0F4780"/>
          </a:solidFill>
          <a:ln/>
        </p:spPr>
      </p:sp>
      <p:sp>
        <p:nvSpPr>
          <p:cNvPr id="4" name="Shape 2"/>
          <p:cNvSpPr/>
          <p:nvPr/>
        </p:nvSpPr>
        <p:spPr>
          <a:xfrm>
            <a:off x="6089904" y="0"/>
            <a:ext cx="3054096" cy="73152"/>
          </a:xfrm>
          <a:prstGeom prst="rect">
            <a:avLst/>
          </a:prstGeom>
          <a:solidFill>
            <a:srgbClr val="F14343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EIXO 2 — CGIF | HUB LABDIV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29LT Bukra" pitchFamily="34" charset="0"/>
                <a:ea typeface="29LT Bukra" pitchFamily="34" charset="-122"/>
                <a:cs typeface="29LT Bukra" pitchFamily="34" charset="-120"/>
              </a:rPr>
              <a:t>Aba CGIF: Acesso à Informação &amp; Wiki Institucional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Centralização do Conhecimento &amp; Memória do IFUSP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4023360" cy="1417320"/>
          </a:xfrm>
          <a:prstGeom prst="roundRect">
            <a:avLst/>
          </a:prstGeom>
          <a:solidFill>
            <a:srgbClr val="1E1E1E"/>
          </a:solidFill>
          <a:ln w="19050">
            <a:solidFill>
              <a:srgbClr val="FFCC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645920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Wiki CGIF: Manuais do curso, Projetos Político-Pedagógicos (PPPs), rotas de circulares e protocolos acadêmicos.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63440" y="1508760"/>
            <a:ext cx="4023360" cy="1417320"/>
          </a:xfrm>
          <a:prstGeom prst="roundRect">
            <a:avLst/>
          </a:prstGeom>
          <a:solidFill>
            <a:srgbClr val="1E1E1E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0" y="1645920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Oportunidades &amp; Iniciativas: Catálogo em tempo real de bolsas PUB, Iniciações Científicas, estágios e simpósios.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063240"/>
            <a:ext cx="4023360" cy="1417320"/>
          </a:xfrm>
          <a:prstGeom prst="roundRect">
            <a:avLst/>
          </a:prstGeom>
          <a:solidFill>
            <a:srgbClr val="1E1E1E"/>
          </a:solidFill>
          <a:ln w="19050">
            <a:solidFill>
              <a:srgbClr val="F1434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200400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Espaços &amp; Mapa Interativo: Conexão direta dos laboratórios físicos do IFUSP via leitura de QR Codes.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63440" y="3063240"/>
            <a:ext cx="4023360" cy="1417320"/>
          </a:xfrm>
          <a:prstGeom prst="roundRect">
            <a:avLst/>
          </a:prstGeom>
          <a:solidFill>
            <a:srgbClr val="1E1E1E"/>
          </a:solidFill>
          <a:ln w="19050">
            <a:solidFill>
              <a:srgbClr val="FFCC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0" y="3200400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Influenciadores &amp; Teste de Radiação: Divulgação de criadores do IFUSP e quiz interativo de fixação da Wiki.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4952" cy="73152"/>
          </a:xfrm>
          <a:prstGeom prst="rect">
            <a:avLst/>
          </a:prstGeom>
          <a:solidFill>
            <a:srgbClr val="FFCC00"/>
          </a:solidFill>
          <a:ln/>
        </p:spPr>
      </p:sp>
      <p:sp>
        <p:nvSpPr>
          <p:cNvPr id="3" name="Shape 1"/>
          <p:cNvSpPr/>
          <p:nvPr/>
        </p:nvSpPr>
        <p:spPr>
          <a:xfrm>
            <a:off x="3044952" y="0"/>
            <a:ext cx="3044952" cy="73152"/>
          </a:xfrm>
          <a:prstGeom prst="rect">
            <a:avLst/>
          </a:prstGeom>
          <a:solidFill>
            <a:srgbClr val="0F4780"/>
          </a:solidFill>
          <a:ln/>
        </p:spPr>
      </p:sp>
      <p:sp>
        <p:nvSpPr>
          <p:cNvPr id="4" name="Shape 2"/>
          <p:cNvSpPr/>
          <p:nvPr/>
        </p:nvSpPr>
        <p:spPr>
          <a:xfrm>
            <a:off x="6089904" y="0"/>
            <a:ext cx="3054096" cy="73152"/>
          </a:xfrm>
          <a:prstGeom prst="rect">
            <a:avLst/>
          </a:prstGeom>
          <a:solidFill>
            <a:srgbClr val="F14343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1434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EIXO 3 — FERRAMENTAS | HUB LABDIV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29LT Bukra" pitchFamily="34" charset="0"/>
                <a:ea typeface="29LT Bukra" pitchFamily="34" charset="-122"/>
                <a:cs typeface="29LT Bukra" pitchFamily="34" charset="-120"/>
              </a:rPr>
              <a:t>Aba Ferramentas: Apoio ao Estudo &amp; Pesquisa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1434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Produtividade acadêmica, retenção discente e aproximação com pesquisadores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4023360" cy="1417320"/>
          </a:xfrm>
          <a:prstGeom prst="roundRect">
            <a:avLst/>
          </a:prstGeom>
          <a:solidFill>
            <a:srgbClr val="1E1E1E"/>
          </a:solidFill>
          <a:ln w="19050">
            <a:solidFill>
              <a:srgbClr val="FFCC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645920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Grade Horária (1h:1h): Planejador semanal de estudos que associa 1 hora de aula a 1 hora de estudo individual.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63440" y="1508760"/>
            <a:ext cx="4023360" cy="1417320"/>
          </a:xfrm>
          <a:prstGeom prst="roundRect">
            <a:avLst/>
          </a:prstGeom>
          <a:solidFill>
            <a:srgbClr val="1E1E1E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0" y="1645920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Trilhas do Curso: Acompanhamento de disciplinas cursadas, pendências e pré-requisitos com sincronização.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063240"/>
            <a:ext cx="4023360" cy="1417320"/>
          </a:xfrm>
          <a:prstGeom prst="roundRect">
            <a:avLst/>
          </a:prstGeom>
          <a:solidFill>
            <a:srgbClr val="1E1E1E"/>
          </a:solidFill>
          <a:ln w="19050">
            <a:solidFill>
              <a:srgbClr val="F1434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200400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Match Acadêmico ("Quero uma IC"): Aproximação entre cartas de interesse de alunos e linhas de pesquisa do IFUSP.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63440" y="3063240"/>
            <a:ext cx="4023360" cy="1417320"/>
          </a:xfrm>
          <a:prstGeom prst="roundRect">
            <a:avLst/>
          </a:prstGeom>
          <a:solidFill>
            <a:srgbClr val="1E1E1E"/>
          </a:solidFill>
          <a:ln w="19050">
            <a:solidFill>
              <a:srgbClr val="FFCC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0" y="3200400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Como Ingressar &amp; Observatório: Guia para vestibulandos, apoio à permanência e arena dos pesquisadores.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2026-08-03T21:23:13Z</dcterms:created>
  <dcterms:modified xsi:type="dcterms:W3CDTF">2026-08-03T21:23:13Z</dcterms:modified>
</cp:coreProperties>
</file>